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UrxkM8FD2aVN4FysUDKGe9xo1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B14A7A-F7E7-445F-A320-BE21CFB725CB}">
  <a:tblStyle styleId="{E4B14A7A-F7E7-445F-A320-BE21CFB725C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서양에서는 </a:t>
            </a:r>
            <a:r>
              <a:rPr lang="ko-KR"/>
              <a:t>태아를</a:t>
            </a:r>
            <a:r>
              <a:rPr lang="ko-KR"/>
              <a:t> ‘오븐 속의 빵’이라고 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여기서 영감을 얻어 조이름은 ‘</a:t>
            </a:r>
            <a:r>
              <a:rPr lang="ko-KR"/>
              <a:t>빵품은 5조’</a:t>
            </a:r>
            <a:r>
              <a:rPr lang="ko-KR"/>
              <a:t>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지금부터 </a:t>
            </a:r>
            <a:r>
              <a:rPr lang="ko-KR"/>
              <a:t>발표를 </a:t>
            </a:r>
            <a:r>
              <a:rPr lang="ko-KR"/>
              <a:t>시작합니다.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-KR"/>
            </a:br>
            <a:r>
              <a:rPr lang="ko-KR"/>
              <a:t>데이터의 항목이 너무나 많았음은 물론 규모 자체가 지금까지와는 격이 다른 상황에서 겪었던 수많은 시행착오들을 지금부터 공유드리도록 하겠습니다.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발표는 다음과 같은 순서로 진행됩니다. </a:t>
            </a:r>
            <a:br>
              <a:rPr lang="ko-KR"/>
            </a:br>
            <a:r>
              <a:rPr lang="ko-KR"/>
              <a:t>데이터의 겉면을 훑는 단순 탐색(확장)에서 시작해, </a:t>
            </a:r>
            <a:br>
              <a:rPr lang="ko-KR"/>
            </a:br>
            <a:r>
              <a:rPr lang="ko-KR"/>
              <a:t>마주한 결측치와 노이즈의 본질을 파헤치고(심화),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마침내 저희만의 앙상블 아키텍처로 최적의 해답을 도출해내는(수렴)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**'논리적 사고의 흐름'**을 따라 프로젝트의 전 과정을 설명해 드리겠습니다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본격적인 탐색에 앞서 데이터의 구조를 파악했습니다. </a:t>
            </a:r>
            <a:br>
              <a:rPr lang="ko-K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제공된 데이터는 약 25만 건의 난임치료데이터로서 지금까지와는 차원이 다른 규모를 자랑하고 있었습니다.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일단 피처가 너무 많아서 감당이 힘들 정도.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우선 주말에는 </a:t>
            </a:r>
            <a:r>
              <a:rPr lang="ko-KR"/>
              <a:t>용어정의와 함께 논문 등 참고 자료를 검색</a:t>
            </a:r>
            <a:r>
              <a:rPr lang="ko-KR"/>
              <a:t>하고 데이터셋 자체에 익숙해지기로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결과, 이 데이터는 영국의 HFEA 데이터를 기반으로 한 것이었고,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환자 이력, 불임 원인, 시술 프로토콜 등 핵심 피처들로 실험을 진행한 ‘생존아 출산 예측 딥러닝 파이프라인 연구’</a:t>
            </a:r>
            <a:r>
              <a:rPr lang="ko-KR"/>
              <a:t>라는 </a:t>
            </a:r>
            <a:r>
              <a:rPr lang="ko-KR">
                <a:solidFill>
                  <a:schemeClr val="dk1"/>
                </a:solidFill>
              </a:rPr>
              <a:t>Arezoo Borji의 논문을 </a:t>
            </a:r>
            <a:r>
              <a:rPr lang="ko-KR"/>
              <a:t>찾을 수 있었습니다.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해당 논문에서는 이 데이터에 ‘</a:t>
            </a:r>
            <a:r>
              <a:rPr lang="ko-KR"/>
              <a:t>45개의 핵심 피처 축’</a:t>
            </a:r>
            <a:r>
              <a:rPr lang="ko-KR"/>
              <a:t>이 있으며, 정교한 피처엔지니어링과 결측치 처리를 통해 TabTransformer 모델로 자그마치 AUC 0.997을 달성했다는 낭보가 있었습니다.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여기서 우리의 첫번째 헬게이트가 열립니다.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/>
              <a:t>최상한은 0.997 이다.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/>
              <a:t>모든 피쳐가 필요하지는 않다.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/>
              <a:t>결측치 보간은 매우 중요하다.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이 데이터는 아시다시피, 클래스 불균형이 성공 : 실패 = 1:3 정도로 불균형이 심한 상황이었지만, 이는 실제 현실의  보조생식술(ART) 성공률 패턴과 정확히 일치하는 자연스러운 분포입니다.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하지만 결측치를 대거 포함한 피처가 많아서 개별 피처 간의 단순 피어슨 상관계수를 구하려 했을 때,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피처 간 영향도가 심하게 왜곡되는 첫 번째 난관에 직면하게 됩니다.</a:t>
            </a:r>
            <a:br>
              <a:rPr lang="ko-KR">
                <a:solidFill>
                  <a:schemeClr val="dk1"/>
                </a:solidFill>
              </a:rPr>
            </a:br>
            <a:br>
              <a:rPr lang="ko-KR">
                <a:solidFill>
                  <a:schemeClr val="dk1"/>
                </a:solidFill>
              </a:rPr>
            </a:br>
            <a:r>
              <a:rPr lang="ko-KR">
                <a:solidFill>
                  <a:schemeClr val="dk1"/>
                </a:solidFill>
              </a:rPr>
              <a:t>이 왜곡을 없애기 위해서 그간 배웠던 모든 결측치 처리방식을 실험함과 동시에 MissForest라는, 위 논문에서 소개된 방법을 이용하여 보간을 진행했으나,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평가결과는 도리어 하락하는 엔딩을 맞이했습니다. (여기까지 모델 v20~30 정도를 허비)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게다가 실제 데이터를 채워 나가는 단계에서 변수 간의 상관관계나 기여도가 모델에 따라 널뛰기를 하는 큰 난관에 부딪혔습니다.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이 즈음에서 찾아낸 최신 글로벌 메타 분석 연구에 따르면, 비슷한 데이터셋을 사용하여 진행한 기존 AI 기반 배아 평가 도구들의 평균 진단 예측력(AUC)은 약 0.70 수준이었다는 것을 확인.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우리가 현재 진행하던 방식과 논문과의 방식을 비교하던 중 중대한 차이점을 발견.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우리는 트리모델을 기본모델로 사용하고 있다.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트리모델은 풍부한 피처셋을 주었을 때 제기능이 발휘된다.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결측치처리는 중요하지 않다(특히나 부스팅계열의 모델에서는)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-KR">
                <a:solidFill>
                  <a:schemeClr val="dk1"/>
                </a:solidFill>
              </a:rPr>
            </a:br>
            <a:r>
              <a:rPr lang="ko-KR">
                <a:solidFill>
                  <a:schemeClr val="dk1"/>
                </a:solidFill>
              </a:rPr>
              <a:t>논문에서 얻었던 지식들은, 의학도메인관련 지식을 제외하고 전면폐기.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순수했던 그시절로 다시 돌아가기로 결정.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모델의 특성을 파악하게 되자, 억지로 데이터를 끼워 맞추던 SMOTE, MissForest 등의 방식을 버리고,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Stratified K-Fold로 검증 비율을 맞추고 데이터 내에 숨겨진 '실패의 진짜 신호'를 찾는 방향으로 선회하자,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그간 크게 신경쓰고 있지 않던 것들이 눈에 들어오기 시작했습니다.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/>
              <a:t>DI/IVF 분기 : </a:t>
            </a:r>
            <a:r>
              <a:rPr lang="ko-KR"/>
              <a:t>불균형이 심하고 반영되는 피처의 종류도 전혀 다른 ‘전혀 다른 유형'의 데이터로 인식하고 2개 방식에 따른 분기를 만들었습니다. </a:t>
            </a:r>
            <a:br>
              <a:rPr lang="ko-KR"/>
            </a:br>
            <a:r>
              <a:rPr lang="ko-KR"/>
              <a:t>여기서 조금 더 발전하여 </a:t>
            </a:r>
            <a:r>
              <a:rPr lang="ko-KR"/>
              <a:t>Di/icf+신선배아, IVF+동결배아 등 여러 분기를 나눠 실행</a:t>
            </a:r>
            <a:r>
              <a:rPr lang="ko-KR"/>
              <a:t>도 해 보았으나</a:t>
            </a:r>
            <a:r>
              <a:rPr lang="ko-KR"/>
              <a:t> 이렇다 할 성과를 얻지 못함.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/>
              <a:t>기본모델인 lightGBM 에서 가장 큰 기여도를 보였던 22개 피처를 중심으로 나머지 피처를 하나씩 더하가는 방식으로 피처셀렉션을 진행.</a:t>
            </a:r>
            <a:br>
              <a:rPr lang="ko-KR"/>
            </a:br>
            <a:r>
              <a:rPr lang="ko-KR"/>
              <a:t>사실은 GA, GAIN, PSO등 좀 더 세련된 방법도 진행을 했으나 성능상의 큰 차이를 체감하지 못하여 시간상 폐기.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이렇게 한없이 진행되었던 ‘유효피처찾기'는 어느정도 가닥을 잡기 시작했습니다.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이제 결측치는 그냥 간단히 NaN 처리를 하고 파생피쳐를 늘려야 한다는 길로 접어들게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SMOTE 등 인위적 오버샘플링을 배제((-0.027급락))하고, 원본 데이터의 구조적 의미를 유지하는 방향 선택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우선은 각 인공시술관련 논문을 참고하여, 인공시술시 진행되는 흐름에 따라 데이터를 재배치하고,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각 피처마다 상관관계가 짙은 것끼리 묶기 시작했고,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그렇게 묶어진 피처들로 새로운 상관관계를 발견했습니다.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여성의 나이와 생성된 배아 수는 임신 성공을 가르는 가장 강력한 지표이며 저희 데이터에서도 연령에 따른 극단적인 성공률 차이를 확인했습니다. 이외에도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—</a:t>
            </a:r>
            <a:r>
              <a:rPr lang="ko-KR"/>
              <a:t>보충필요시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분석 결과, 배아 관련 정보가 결측된 데이터는 시술이 조기 중단되었음을 의미하는 강력한 하드 네거티브 신호였습니다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더 나아가 가장 핵심적인 **'심슨의 역설'**을 데이터로 증명해 냈습니다. 연령이 높아질수록 성공률은 붕괴하지만, '기증 난자'를 사용한 그룹은 나이와 무관하게 30%대의 성공률을 안정적으로 방어하고 있었습니다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이는 단편적인 상관계수 분석을 넘어, 변수 간의 복잡한 상호작용을 반영하는 정교한 파생 피처 엔지니어링이 필수적이라는 결론으로 저희의 시각을 완벽히 수렴시켜 주었습니다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고령여성 + 기증난자는 다른 여하간의 조건에도 불구하고 성공확률이 일반의 경우와 비슷하게 유지된다.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채취된 난자의 수가 많다고 무조건 좋은 것은 아니다(여성질환의심, 15~20개 부근에서 성공률 상승의 한계 효용이 감소(Saturation)) &gt;&gt; 한계효용원칙 반영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유전자검사, 치료여부는 성공/실패와 관련이 깊다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등등 유의미한 피처셋을 발견할 수 있었습니다.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이러한 심화 분석을 바탕으로, 특정 조건에서 성공률이 38.9%까지 치솟는 '골든 룰(Golden Rule)' 집단과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8.5%로 급감하는 '고위험(Dead End)' 집단을 명확히 규명할 수 있었습니다.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여기서 제 2차 지옥이 시작됩니다.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이제 피처엔지니어링으로 점수가 올라간다는 것을 확인하자 오만가지 가설과 조합으로 한떄 피처가 200여개까지 늘어났고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그만큼 훈련시간은 늘어나고 잠은 줄어들기 시작… 말이 없어지기 시작했습니다.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다행히 Mamadou Maladho Barry의 결측치 연구(GAIN)라는 논문에서 얻은 통찰을 바탕으로 결측치를 무작위 누락이 아닌 '강력한 임상적 신호'로 재해석하면 된다는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공식적 확인을 받고 나서, 피처를 무작정 늘리는 것보다는 향후 모델이 집중적으로 파고들어야 할 타깃 피처그룹을 수렴해 나가야 한다는 것으로 방향을 틀 수 있었습니다.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저희의 경우, 피처셋과 모델링은 거의 동시에 진행되었는데요,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처음에는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대뜸 선형회귀부터 시작했습니다 </a:t>
            </a:r>
            <a:b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수치데이터가 꽤 많았고, </a:t>
            </a:r>
            <a:b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다른 것들도 순서형범주를 잘 짜면 인코딩을 통해 충분히 ‘성공률'로서 계산이 가능할거라 생각했기에 충분히 점수화가 가능할거라 생각했거든요.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그런데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바로 느꼈어요.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데이터가 불균형하고(imbalance), missing value가 많아서 단순히 평균으로 채우니 중요한 신호를 놓쳤습니다. </a:t>
            </a:r>
            <a:b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특히 배아 이식 경과일이 비어있는 경우 성공률이 2.4%밖에 안 되는데, 그걸 무시하니까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ROC-AUC가 0.68 언저리로 떨어져버리는…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그래서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첫 번째 변경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기본 부스팅 3대장 모델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(Logistic Regression, Random Forest)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또한 피처도 Missing value를 단순 채우지 않고,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“missing 자체를 하나의 특징”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으로 만들고, DI 시술인 경우 embryo 관련 feature를 0으로 논리적으로 채웠습니다.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또 class weight를 주고 LightGBM, XGBoost 같은 ensemble 모델도시도 해 봤습니다.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드디어 앞에서 말씀드린 피처셋 변경(핵심피처셋 + 시술흐름을 고려한 파생피처셋)으로 0.741 대로 진입했습니다.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변경으로 탄력을 얻자, 초반에 버렸던 신경망이나 트랜스포머 계열이 또다시 유혹을 시작했고…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 다음에는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더 복잡한 패턴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잡기 위해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Neural Network와 Hybrid 모델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시도했습니다.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 단독이나 ANN + XGBoost stacking까지 진행을 해봤는데,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는 tabular 데이터에서 NN이 쉽게 overfit 되고, 해석하기 어렵다는 점 때문인지… 점수는 0.740 대를 넘지 못했습니다.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무엇보다 Tree 모델만큼 안정적이지도 않았고 시간이 너무 많이 걸렸죠.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이후</a:t>
            </a:r>
            <a:r>
              <a:rPr lang="ko-KR"/>
              <a:t> </a:t>
            </a:r>
            <a:r>
              <a:rPr lang="ko-KR"/>
              <a:t>딥러닝과 </a:t>
            </a:r>
            <a:r>
              <a:rPr lang="ko-KR"/>
              <a:t>기왕에 만들어 둔 </a:t>
            </a:r>
            <a:r>
              <a:rPr lang="ko-KR"/>
              <a:t>트리를 결합하기 위해 MLP, EBM 등 가용한 수많은 아키텍처를 확장해 실험했습니다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그러나 충격적이게도, 알고리즘을 아무리 바꿔도 예측값들이 0.96 이상의 높은 상관계수를 보이며 동일한 오답을 내는 동조화 현상에 직면했습니다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이를 통해 진정한 모델 다양성은 알고리즘 형태가 아닌 '투입되는 피처의 질'에서 나온다는 결론을 내렸습니다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최종적으로 트리의 기본기인 GBDT 3대장을 중심</a:t>
            </a:r>
            <a:r>
              <a:rPr lang="ko-KR"/>
              <a:t>의</a:t>
            </a:r>
            <a:r>
              <a:rPr lang="ko-KR"/>
              <a:t> 아키텍처</a:t>
            </a:r>
            <a:r>
              <a:rPr lang="ko-KR"/>
              <a:t>로 복귀했지만,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그간 만들어둔 ‘의미형 피처' 들은 살려두기로 했어요. (140~150개정도)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특히 범주형 데이터 학습에 강력한 CatBoost</a:t>
            </a:r>
            <a:r>
              <a:rPr lang="ko-KR"/>
              <a:t>가 </a:t>
            </a:r>
            <a:r>
              <a:rPr lang="ko-KR"/>
              <a:t>저희가 정성들여 깎아낸 '풍부한 피처셋'을 </a:t>
            </a:r>
            <a:r>
              <a:rPr lang="ko-KR"/>
              <a:t>먹고 </a:t>
            </a:r>
            <a:r>
              <a:rPr lang="ko-KR"/>
              <a:t>단독 최고 성능(OOF 0.74076)을 내</a:t>
            </a:r>
            <a:r>
              <a:rPr lang="ko-KR"/>
              <a:t>주었습니</a:t>
            </a:r>
            <a:r>
              <a:rPr lang="ko-KR"/>
              <a:t>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겨우 0.741대에 진입했지만, 그 이상은 쉽지 않았어요.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짜내기에 들어갔습니다.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우선 </a:t>
            </a:r>
            <a:r>
              <a:rPr lang="ko-KR"/>
              <a:t>손실 함수와 최적화 기법</a:t>
            </a:r>
            <a:r>
              <a:rPr lang="ko-KR"/>
              <a:t>으로 포커스를 이동하고, 이동했습니다.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평가지표가 순위를 평가하는 ROC-AUC</a:t>
            </a:r>
            <a:r>
              <a:rPr lang="ko-KR"/>
              <a:t>라는 것을 반영하여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순위 최적화 손실함수인 LambdaRank를 쓰거나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불균형 타깃에 재가중치(scale_pos_weight)를 부여하는 확장을 시도했습니다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다만 </a:t>
            </a:r>
            <a:r>
              <a:rPr lang="ko-KR">
                <a:solidFill>
                  <a:schemeClr val="dk1"/>
                </a:solidFill>
              </a:rPr>
              <a:t>고령 서브그룹의 오답률을 낮추고자 샘플 가중치를 3.0배까지 강하게 주는 방법은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전체 예측 확률을 우측으로 이동시켜 **'글로벌 임계값도 동반 상승하는 덫(Paradox)'**에 빠지게 했고,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결국 서브그룹 타겟팅이 무력화되는 모순을 깨달으며 인위적 가중치 조작을 전면 폐기했습니다.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ko-KR">
                <a:solidFill>
                  <a:schemeClr val="dk1"/>
                </a:solidFill>
              </a:rPr>
              <a:t>더 나아가, 단일 모델이 갖는 예측 편향을 없애기 위해 5개에서 7개의 서로 다른 난수 시드로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ko-KR">
                <a:solidFill>
                  <a:schemeClr val="dk1"/>
                </a:solidFill>
              </a:rPr>
              <a:t>파이프라인 전체를 반복 학습하고 이를 평균 내는 **'멀티시드 풀파이프라인 배깅'**을 최종 전략으로 수렴시켰습니다.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단일 난수 시드로 학습할 경우,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단순히 운에 의해 데이터가 어떻게 쪼개지느냐에 따라 모델 성능 평가가 널뛰는 심각한 불안정성이 있었습니다.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이를 돌파하기 위해 불균형 타깃을 균등하게 분배하는 Stratified 5-Fold를 기본 베이스로 세팅했습니다.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그 대신 파라미터 튜닝 시 발생하는 난수 노이즈를 원천 통제하기 위해,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서로 다른 5개에서 7개의 시드(Seed)를 학습하여 평균을 내는 '멀티시드 배깅' 최적화 기법을 도입했습니다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이 기법은 저희 프로젝트 내내 흔들림 없는 성능 향상을 보장해 준 가장 강력한 최적화 무기였습니다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저희는 실측을 통해 이 기법이 성능 표준편차를 0.00011 수준의 미세한 노이즈로 억제해 준다는 것을 증명했고,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ko-KR"/>
              <a:t>이후</a:t>
            </a:r>
            <a:r>
              <a:rPr lang="ko-KR"/>
              <a:t> 가장 확실한 성능 향상의 기반이 되었습니다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앙상블 성능 개선 — 최종 아키텍처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저희는 알고리즘도 다르고, 피처 가공 방식도 다르고, 학습 목표도 다른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12개의 모델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만들어 다양성을 확보했습니다.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(예: CatBoost 멀티시드, LightGBM, XGBoost, Rank 학습 모델, Neural Net 등)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하지만 이들의 예측 확률을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단순 가중 평균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하는 것에는 한계가 있었습니다.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모델마다 예측값의 스케일(감각)이 달라 결과가 왜곡되는 문제가 발생했기 때문입니다.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ECDF 백분위 변환 — “다른 줄자를 같은 단위로 바꾸기”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12개 모델은 각각 0~1 사이의 확률값을 내놓지만,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모델마다 “감각”이 달랐습니다.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어떤 모델은 0.6만 나와도 높은 확신을 보였고, 어떤 모델은 0.4만 나와도 비슷한 수준으로 판단했습니다.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상태로 단순 평균을 내면 “감각이 다른 잣대”를 그대로 섞는 셈이 되어 왜곡이 생깁니다.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ECDF(경험적 누적분포함수)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는 이 문제를 해결해줍니다.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모델의 예측값을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“전체 중에서 몇 번째로 높은 값인가(백분위)”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변환해주는 것입니다.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예를 들어 “키 175cm”라는 절대값 대신 “전체에서 상위 30%”로 바꾸는 것과 같은 원리입니다.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이를 해결하기 위해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‘ECDF Rank Stacking 아키텍처’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도입했습니다.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먼저, 각 모델의 예측값을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경험적 누적분포함수(ECDF)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통해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백분위수 스케일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완벽히 정규화했습니다.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이렇게 서로 다른 모델들의 예측을 동일한 척도로 맞춘 뒤, 결합 가중치의 합이 1이어야 한다는 고정관념을 깨고,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음수 가중치까지 허용하는 선형회귀 메타러너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모델들을 결합했습니다.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음수 가중치의 시너지와 최종 성능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 음수 가중치는 모델들이 공통으로 범하는 오답 노이즈를 서로 상쇄시키는 강력한 시너지를 발휘했습니다.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실제로 선형회귀 메타러너는 alpha_cat에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-0.0344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catboost_bagged에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-0.0268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이라는 음수 계수를 부여하며,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겹치는 노이즈(Redundant Signal)를 효과적으로 Cut-off 시켰습니다.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‘확률값을 위한 특별한 스케일러’인 ECDF와 음수 가중치를 허용한 선형 메타러너를 결합한 이 아키텍처 덕분에,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최종 OOF 0.74098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리더보드 4위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라는 성과를 달성하며 기나긴 모델링 여정을 성공적으로 마무리할 수 있었습니다.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중요한 안전장치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로, 백분위 기준은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학습용 데이터(80%)의 분포만 보고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만들었으며,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검증용·테스트 데이터는 그 기준에 맞춰보기만 했습니다. 이는 데이터 누수를 철저히 방지하기 위함입니다.</a:t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 리포트에 담긴 핵심 전략은 크게 **'도메인 맞춤형 피처 정예화'**와 **'다중공선성 노이즈를 제어하는 독창적 스태킹 메커니즘'**으로 요약할 수 있습니다. 자세한 4가지 핵심 전략은 다음과 같습니다.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/>
              <a:t>1. 풍부한 피처 엔지니어링 (Rich Feature Set)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단순한 일괄 대치를 버리고, 임상 도메인 지식을 바탕으로 피처를 정밀하게 깎아낸 6가지 핵심 기법을 도입했습니다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Keep-NaN 정책: 기증 정자(DI) 시술에서 발생하는 배아/난자 관련 구조적 결측치를 무작위 값(-1 등)으로 채우지 않고 진짜 결측(NaN)으로 유지했습니다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여기에 _missing 또는 _not_applicable_DI 플래그를 추가해 트리 모델이 네이티브하게 결측 분기를 학습하도록 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아웃라이어 클리핑 &amp; 플래그: 총 생성 배아 수처럼 비정상적으로 높은 극단값(예: 40 이상)에 상한선을 적용해 자르고(Clipping), 원래 상한선을 넘었음을 뜻하는 _high_flag를 별도로 부여하여 노이즈를 통제했습니다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안전한 비율(Safe Ratio): 수정률, 배아 활용률 등을 계산할 때 분모가 0이거나 결측치일 경우 임의의 0으로 덮어씌우는 대신, 진짜 NaN으로 두고 _available 플래그를 분리해 생성했습니다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실효 모성 나이 (Effective Maternal Age): 기증 난자를 사용한 환자의 경우, 본인의 원래 나이 대신 '기증자의 연령 중간값'으로 나이를 덮어씌워 생물학적 실효 나이를 반영했습니다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더 나아가 환자와 기증자의 나이 차이를 계산한 donor_rejuvenation_gap(회춘 갭) 피처도 추가했습니다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시술 유형 세부 토큰화: 복잡한 시술 텍스트에서 IVF, ICSI, BLASTOCYST(배반포) 등의 하위 키워드를 뽑아내어 독립된 바이너리 플래그(0/1)로 쪼개어 주입했습니다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네이티브 Categorical Type 적용: 범주형 데이터를 단순 정수로 변환하는 LabelEncoder 대신 Pandas의 Categorical 데이터 타입을 사용하여, CatBoost와 LightGBM이 자체적인 범주형 분할 알고리즘을 최대한 활용하게 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/>
              <a:t>2. 강력한 코어 모델 구축: donor_cat과 멀티시드 배깅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위에서 완성한 '풍부한 피처셋'을 범주형 데이터 학습에 가장 강력한 CatBoost 모델에 주입했습니다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단일 난수 시드로 인한 평가의 흔들림을 막기 위해 7개의 서로 다른 시드로 학습한 뒤 이를 평균 내는 **'멀티시드 배깅(Multi-seed Bagging)'**을 적용했습니다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결과적으로 이 donor_cat 모델은 다른 어떤 복잡한 앙상블 조합보다도 뛰어난 **단일 모델 최고 점수(OOF 0.74076)**를 기록하며 2차 개선의 가장 든든한 뼈대가 되었습니다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/>
              <a:t>3. 한계 돌파 메커니즘: ECDF 랭크변환 + 선형회귀 스태킹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가장 혁신적인 변화는 12개에 달하는 앙상블 후보 모델들을 엮는 '스태킹(Stacking) 메커니즘'의 교체입니다. 기존 단순 가중 평균(Soft Voting)의 스케일 왜곡 문제를 다음 2단계로 완벽히 타파했습니다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ECDF(경험적 누적분포함수) 랭크 정규화: 다양한 트리/신경망 모델들이 뿜어내는 각기 다른 스케일의 예측 확률을 백분위 랭크(0~1)로 완벽하게 동일 선상에 맞췄습니다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이때 데이터 누수를 막기 위해 철저히 Train 데이터셋에만 ECDF를 적합시켰습니다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음수 계수를 허용하는 Linear/Ridge 메타러너: 각 모델의 가중치 합이 1이어야 한다는 기존의 족쇄를 풀고, 음수(-) 계수를 허용하는 선형회귀(Linear Regression) 모델로 12개의 출력을 결합했습니다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이를 통해 12개의 모델이 공통으로 범하는 오답(다중공선성 노이즈)을 서로 빼서 상쇄시키는 기적 같은 시너지를 만들어냈습니다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 추가로 L2 규제가 있는 Ridge 회귀로 검증했을 때도 동일한 스코어 구간을 기록하며 이 결과가 우연이 아님을 증명했습니다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/>
              <a:t>4. 규칙 준수(Compliance)와 데이터 누수 완전 차단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흔들림 없는 신뢰도: Fold 별로 완전히 독립된 Nested CV(이중 교차 검증) 구조를 유지한 결과, 프로젝트 전 기간 동안 로컬 점수(OOF)와 실제 리더보드 점수의 격차가 단 한 번의 예외도 없이 +0.0011 ~ +0.0013 범위 내로 완벽히 통제되었습니다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결과적으로 이 '2차 스태킹 리포트'의 전략을 통해 OOF 점수를 0.74098까지 끌어올렸으며, 실제 제출 점수 역시 0.7421890122로 크게 도약하며 리더보드 최종 3위를 확정 지을 수 있었습니다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자료가 다다익선은 아니다.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팀프로젝트이므로, 좀 더 긴밀하게 서로의 코드를 나누며 함께 했다면 서로의 크레딧과 시간을 엄청 아낄 수 있었을 것같다는 깨달음이...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트랜스포머 모델을 마지막까지 적용해보지 못했다.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그래서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현재 방향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으로는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Ensemble의 강점(안정성, 해석 가능) + NN의 복잡한 패턴 학습 능력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결합한 </a:t>
            </a:r>
            <a:r>
              <a:rPr b="1"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Hybrid / Stacking</a:t>
            </a: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접근을 하고 있습니다.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또한 공통조건, IVF, DI 등 각 브랜치를 구성할 수 있는 피처들을 모아서 멀티헤드 어텐션을 돌려보는 것도 성능향상에 도움이 될 듯…하지만 시간이 너무 많이 걸렸다…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5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5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12800" y="122766"/>
            <a:ext cx="14630400" cy="2010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12800" y="2133600"/>
            <a:ext cx="14630400" cy="7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/>
          <p:nvPr/>
        </p:nvSpPr>
        <p:spPr>
          <a:xfrm>
            <a:off x="1867990" y="7798525"/>
            <a:ext cx="1463040" cy="52251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/>
        </p:nvSpPr>
        <p:spPr>
          <a:xfrm>
            <a:off x="1183091" y="2703414"/>
            <a:ext cx="3098624" cy="1165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ko-KR" sz="7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b="1" i="0" sz="7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" name="Google Shape;57;p2"/>
          <p:cNvGraphicFramePr/>
          <p:nvPr/>
        </p:nvGraphicFramePr>
        <p:xfrm>
          <a:off x="5695235" y="27034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{E4B14A7A-F7E7-445F-A320-BE21CFB725CB}</a:tableStyleId>
              </a:tblPr>
              <a:tblGrid>
                <a:gridCol w="1413550"/>
                <a:gridCol w="8557750"/>
              </a:tblGrid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2C2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solidFill>
                            <a:srgbClr val="C2C2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탐색 (EDA) - 데이터 구조 파악 및 타깃 분석</a:t>
                      </a:r>
                      <a:endParaRPr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2C2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solidFill>
                            <a:srgbClr val="C2C2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전처리 - 도메인 맞춤형 피처 엔지니어링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2C2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solidFill>
                            <a:srgbClr val="C2C2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모델링 - </a:t>
                      </a:r>
                      <a:r>
                        <a:rPr lang="ko-KR" sz="2500" u="none" cap="none" strike="noStrike"/>
                        <a:t>모델 다양성 확보 및 ECDF 스태킹 아키텍처</a:t>
                      </a:r>
                      <a:endParaRPr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2C2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solidFill>
                            <a:srgbClr val="C2C2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ko-KR" sz="2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평가 지표 계산 - 안정적 검증과 최종 성과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1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Google Shape;58;p2"/>
          <p:cNvSpPr/>
          <p:nvPr/>
        </p:nvSpPr>
        <p:spPr>
          <a:xfrm>
            <a:off x="3991430" y="2703414"/>
            <a:ext cx="508000" cy="625565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13594556" y="729471"/>
            <a:ext cx="2051844" cy="53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데이터탐색</a:t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472701" y="2526879"/>
            <a:ext cx="4863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600"/>
              <a:buFont typeface="Arial"/>
              <a:buNone/>
            </a:pPr>
            <a:r>
              <a:rPr b="1" i="0" lang="ko-KR" sz="1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 b="1" i="0" sz="1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551522" y="4783544"/>
            <a:ext cx="3784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600"/>
              <a:buFont typeface="Arial"/>
              <a:buNone/>
            </a:pPr>
            <a:r>
              <a:rPr b="1" i="0" lang="ko-KR" sz="1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b="1" i="0" sz="1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8242664" y="5982788"/>
            <a:ext cx="7576455" cy="9274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09600" y="729471"/>
            <a:ext cx="15036800" cy="53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609600" y="729471"/>
            <a:ext cx="15036800" cy="53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데이터탐색</a:t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4843300" y="8853550"/>
            <a:ext cx="1412700" cy="38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 txBox="1"/>
          <p:nvPr/>
        </p:nvSpPr>
        <p:spPr>
          <a:xfrm>
            <a:off x="609600" y="729471"/>
            <a:ext cx="1503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/>
          <p:nvPr/>
        </p:nvSpPr>
        <p:spPr>
          <a:xfrm>
            <a:off x="609600" y="729471"/>
            <a:ext cx="15036800" cy="53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모델링</a:t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609600" y="729471"/>
            <a:ext cx="15036800" cy="53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모델링</a:t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114" name="Google Shape;1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120" name="Google Shape;1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0"/>
          <p:cNvSpPr txBox="1"/>
          <p:nvPr/>
        </p:nvSpPr>
        <p:spPr>
          <a:xfrm>
            <a:off x="609600" y="729471"/>
            <a:ext cx="15036800" cy="53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198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최종전략</a:t>
            </a:r>
            <a:endParaRPr b="1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2182168" y="3553770"/>
            <a:ext cx="2283132" cy="738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"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/>
          <p:nvPr/>
        </p:nvSpPr>
        <p:spPr>
          <a:xfrm>
            <a:off x="12558611" y="7052984"/>
            <a:ext cx="252919" cy="52321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ko-K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4843275" y="8764050"/>
            <a:ext cx="1412700" cy="38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붙여넣은 동영상.png"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123" y="117988"/>
            <a:ext cx="8232877" cy="932252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/>
          <p:nvPr/>
        </p:nvSpPr>
        <p:spPr>
          <a:xfrm>
            <a:off x="0" y="4292552"/>
            <a:ext cx="8232877" cy="486697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74134" y="3341330"/>
            <a:ext cx="4334933" cy="83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ko-K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최종모델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난임_시술_예측_AI_전략.pn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72"/>
            <a:ext cx="16256000" cy="914222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0178573" y="450646"/>
            <a:ext cx="5712657" cy="83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ko-KR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느낀점, 향후 남은 것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박지은</dc:creator>
</cp:coreProperties>
</file>